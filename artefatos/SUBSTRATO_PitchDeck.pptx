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4E4F8F-92AA-45A0-B0A8-E95FF678DE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B72F85-1C48-429F-A7C7-AFE244F9EB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11A3D8-F2C7-41F6-A8F9-4E1D254F05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34FF85-E0D0-4E1F-84C5-1EB54983F7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00DDC7-DBEE-4EB7-92B1-3115130C21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298791-7C9F-4C25-8F80-FFB969B7E3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7CC96D-5BD8-4FE7-AE62-C91134599D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3AC9DC-0CE8-44B5-B748-4A5D28548F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58F90D-9376-4BC7-A36B-6C5A7E20EE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382F45-4C35-4508-B258-8F3E7F656E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1D98F2-7A4D-4947-8428-5736334B7A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7314840" cy="6857640"/>
          </a:xfrm>
          <a:prstGeom prst="rect">
            <a:avLst/>
          </a:prstGeom>
          <a:solidFill>
            <a:srgbClr val="EEF0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63" name="Connector 3"/>
          <p:cNvCxnSpPr/>
          <p:nvPr/>
        </p:nvCxnSpPr>
        <p:spPr>
          <a:xfrm flipV="1">
            <a:off x="1005840" y="1023840"/>
            <a:ext cx="1024200" cy="53100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64" name="Connector 4"/>
          <p:cNvCxnSpPr/>
          <p:nvPr/>
        </p:nvCxnSpPr>
        <p:spPr>
          <a:xfrm>
            <a:off x="2029680" y="1023840"/>
            <a:ext cx="1134360" cy="67716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65" name="Connector 5"/>
          <p:cNvCxnSpPr/>
          <p:nvPr/>
        </p:nvCxnSpPr>
        <p:spPr>
          <a:xfrm flipV="1">
            <a:off x="3163680" y="1188720"/>
            <a:ext cx="1042920" cy="51228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66" name="Connector 6"/>
          <p:cNvCxnSpPr/>
          <p:nvPr/>
        </p:nvCxnSpPr>
        <p:spPr>
          <a:xfrm>
            <a:off x="4206240" y="1188720"/>
            <a:ext cx="1262160" cy="71352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67" name="Connector 7"/>
          <p:cNvCxnSpPr/>
          <p:nvPr/>
        </p:nvCxnSpPr>
        <p:spPr>
          <a:xfrm flipV="1">
            <a:off x="5468040" y="1261800"/>
            <a:ext cx="823320" cy="64044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68" name="Connector 8"/>
          <p:cNvCxnSpPr/>
          <p:nvPr/>
        </p:nvCxnSpPr>
        <p:spPr>
          <a:xfrm>
            <a:off x="6291000" y="1261800"/>
            <a:ext cx="512280" cy="96948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69" name="Connector 9"/>
          <p:cNvCxnSpPr/>
          <p:nvPr/>
        </p:nvCxnSpPr>
        <p:spPr>
          <a:xfrm flipH="1">
            <a:off x="5650920" y="2230920"/>
            <a:ext cx="1152360" cy="49428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70" name="Connector 10"/>
          <p:cNvCxnSpPr/>
          <p:nvPr/>
        </p:nvCxnSpPr>
        <p:spPr>
          <a:xfrm flipH="1" flipV="1">
            <a:off x="4535280" y="2340720"/>
            <a:ext cx="1116000" cy="38448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71" name="Connector 11"/>
          <p:cNvCxnSpPr/>
          <p:nvPr/>
        </p:nvCxnSpPr>
        <p:spPr>
          <a:xfrm flipH="1">
            <a:off x="3492720" y="2340720"/>
            <a:ext cx="1042920" cy="60372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72" name="Connector 12"/>
          <p:cNvCxnSpPr/>
          <p:nvPr/>
        </p:nvCxnSpPr>
        <p:spPr>
          <a:xfrm flipH="1" flipV="1">
            <a:off x="2176200" y="2541960"/>
            <a:ext cx="1316880" cy="40248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cxnSp>
        <p:nvCxnSpPr>
          <p:cNvPr id="73" name="Connector 13"/>
          <p:cNvCxnSpPr/>
          <p:nvPr/>
        </p:nvCxnSpPr>
        <p:spPr>
          <a:xfrm flipH="1">
            <a:off x="1279800" y="2541960"/>
            <a:ext cx="896760" cy="475920"/>
          </a:xfrm>
          <a:prstGeom prst="straightConnector1">
            <a:avLst/>
          </a:prstGeom>
          <a:ln>
            <a:solidFill>
              <a:srgbClr val="B91C1C"/>
            </a:solidFill>
            <a:round/>
          </a:ln>
        </p:spPr>
      </p:cxnSp>
      <p:sp>
        <p:nvSpPr>
          <p:cNvPr id="74" name="Oval 14"/>
          <p:cNvSpPr/>
          <p:nvPr/>
        </p:nvSpPr>
        <p:spPr>
          <a:xfrm>
            <a:off x="731520" y="1280160"/>
            <a:ext cx="548280" cy="54828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Oval 15"/>
          <p:cNvSpPr/>
          <p:nvPr/>
        </p:nvSpPr>
        <p:spPr>
          <a:xfrm>
            <a:off x="1828800" y="822960"/>
            <a:ext cx="402120" cy="40212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Oval 16"/>
          <p:cNvSpPr/>
          <p:nvPr/>
        </p:nvSpPr>
        <p:spPr>
          <a:xfrm>
            <a:off x="2926080" y="1463040"/>
            <a:ext cx="475200" cy="47520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Oval 17"/>
          <p:cNvSpPr/>
          <p:nvPr/>
        </p:nvSpPr>
        <p:spPr>
          <a:xfrm>
            <a:off x="4023360" y="1005840"/>
            <a:ext cx="365400" cy="36540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Oval 18"/>
          <p:cNvSpPr/>
          <p:nvPr/>
        </p:nvSpPr>
        <p:spPr>
          <a:xfrm>
            <a:off x="5212080" y="1645920"/>
            <a:ext cx="511560" cy="51156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Oval 19"/>
          <p:cNvSpPr/>
          <p:nvPr/>
        </p:nvSpPr>
        <p:spPr>
          <a:xfrm>
            <a:off x="6126480" y="1097280"/>
            <a:ext cx="328680" cy="32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Oval 20"/>
          <p:cNvSpPr/>
          <p:nvPr/>
        </p:nvSpPr>
        <p:spPr>
          <a:xfrm>
            <a:off x="6583680" y="2011680"/>
            <a:ext cx="438480" cy="43848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Oval 21"/>
          <p:cNvSpPr/>
          <p:nvPr/>
        </p:nvSpPr>
        <p:spPr>
          <a:xfrm>
            <a:off x="5486400" y="2560320"/>
            <a:ext cx="328680" cy="32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Oval 22"/>
          <p:cNvSpPr/>
          <p:nvPr/>
        </p:nvSpPr>
        <p:spPr>
          <a:xfrm>
            <a:off x="4389120" y="2194560"/>
            <a:ext cx="292320" cy="29232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Oval 23"/>
          <p:cNvSpPr/>
          <p:nvPr/>
        </p:nvSpPr>
        <p:spPr>
          <a:xfrm>
            <a:off x="3291840" y="2743200"/>
            <a:ext cx="402120" cy="40212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Oval 24"/>
          <p:cNvSpPr/>
          <p:nvPr/>
        </p:nvSpPr>
        <p:spPr>
          <a:xfrm>
            <a:off x="2011680" y="2377440"/>
            <a:ext cx="328680" cy="32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Oval 25"/>
          <p:cNvSpPr/>
          <p:nvPr/>
        </p:nvSpPr>
        <p:spPr>
          <a:xfrm>
            <a:off x="1097280" y="2834640"/>
            <a:ext cx="365400" cy="365400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26"/>
          <p:cNvSpPr/>
          <p:nvPr/>
        </p:nvSpPr>
        <p:spPr>
          <a:xfrm>
            <a:off x="7315200" y="0"/>
            <a:ext cx="4876200" cy="6857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ounded Rectangle 27"/>
          <p:cNvSpPr/>
          <p:nvPr/>
        </p:nvSpPr>
        <p:spPr>
          <a:xfrm>
            <a:off x="7818120" y="502920"/>
            <a:ext cx="38703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us 28"/>
          <p:cNvSpPr/>
          <p:nvPr/>
        </p:nvSpPr>
        <p:spPr>
          <a:xfrm>
            <a:off x="8028360" y="713160"/>
            <a:ext cx="310680" cy="310680"/>
          </a:xfrm>
          <a:prstGeom prst="mathPlus">
            <a:avLst>
              <a:gd name="adj1" fmla="val 23520"/>
            </a:avLst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9"/>
          <p:cNvSpPr/>
          <p:nvPr/>
        </p:nvSpPr>
        <p:spPr>
          <a:xfrm>
            <a:off x="8412480" y="658440"/>
            <a:ext cx="318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SUBSTRATO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0"/>
          <p:cNvSpPr/>
          <p:nvPr/>
        </p:nvSpPr>
        <p:spPr>
          <a:xfrm>
            <a:off x="7818120" y="1874520"/>
            <a:ext cx="3870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SUBSTRATO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1"/>
          <p:cNvSpPr/>
          <p:nvPr/>
        </p:nvSpPr>
        <p:spPr>
          <a:xfrm>
            <a:off x="7818120" y="2834640"/>
            <a:ext cx="3870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ECACA"/>
                </a:solidFill>
                <a:effectLst/>
                <a:uFillTx/>
                <a:latin typeface="Calibri"/>
              </a:rPr>
              <a:t>Infraestrutura unificada de saúde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2"/>
          <p:cNvSpPr/>
          <p:nvPr/>
        </p:nvSpPr>
        <p:spPr>
          <a:xfrm>
            <a:off x="7818120" y="3703320"/>
            <a:ext cx="3870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E4E6"/>
                </a:solidFill>
                <a:effectLst/>
                <a:uFillTx/>
                <a:latin typeface="Calibri"/>
              </a:rPr>
              <a:t>Da recepção ao laboratório, faturação e gestão.</a:t>
            </a:r>
            <a:br>
              <a:rPr sz="1600"/>
            </a:br>
            <a:r>
              <a:rPr lang="en-US" sz="1600" b="0" u="none" strike="noStrike">
                <a:solidFill>
                  <a:srgbClr val="FFE4E6"/>
                </a:solidFill>
                <a:effectLst/>
                <a:uFillTx/>
                <a:latin typeface="Calibri"/>
              </a:rPr>
              <a:t>Uma única base. Um único fluxo. Um único controlo.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3"/>
          <p:cNvSpPr/>
          <p:nvPr/>
        </p:nvSpPr>
        <p:spPr>
          <a:xfrm>
            <a:off x="7818120" y="5897880"/>
            <a:ext cx="3870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EE2E2"/>
                </a:solidFill>
                <a:effectLst/>
                <a:uFillTx/>
                <a:latin typeface="Calibri"/>
              </a:rPr>
              <a:t>SUBS — Sistema Unificado de Base em Saúde  |  Apresentação comercial  |  2026-03-15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EF0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 que está a custar caro hoje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640080" y="1143000"/>
            <a:ext cx="640044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54720" rIns="90000" bIns="54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Problemas reais do dia-a-dia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Processos fragmentados: recepção, laboratório, enfermagem, farmácia e contabilidade não conversam.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Resultados atrasados e sem rastreabilidade: erros, retrabalho e reclamações.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Faturação com fugas: itens esquecidos, IVA inconsistente e pagamentos difíceis de reconciliar.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Falta de auditoria: quem fez o quê, quando e porquê.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Relatórios demorados: decisões no escuro, sem indicadores confiáveis.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4"/>
          <p:cNvSpPr/>
          <p:nvPr/>
        </p:nvSpPr>
        <p:spPr>
          <a:xfrm>
            <a:off x="7315200" y="1143000"/>
            <a:ext cx="42973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7315200" y="1143000"/>
            <a:ext cx="4297320" cy="127800"/>
          </a:xfrm>
          <a:prstGeom prst="rect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7516440" y="1325880"/>
            <a:ext cx="3894840" cy="12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Consequência direta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Perdas silenciosas todos os dias: tempo, dinheiro e reputação.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7"/>
          <p:cNvSpPr/>
          <p:nvPr/>
        </p:nvSpPr>
        <p:spPr>
          <a:xfrm>
            <a:off x="7315200" y="2834640"/>
            <a:ext cx="42973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8"/>
          <p:cNvSpPr/>
          <p:nvPr/>
        </p:nvSpPr>
        <p:spPr>
          <a:xfrm>
            <a:off x="7315200" y="2834640"/>
            <a:ext cx="4297320" cy="12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9"/>
          <p:cNvSpPr/>
          <p:nvPr/>
        </p:nvSpPr>
        <p:spPr>
          <a:xfrm>
            <a:off x="7516440" y="3017520"/>
            <a:ext cx="3894840" cy="12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O risco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Sem auditoria e sem fluxo, o erro vira rotina.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0"/>
          <p:cNvSpPr/>
          <p:nvPr/>
        </p:nvSpPr>
        <p:spPr>
          <a:xfrm>
            <a:off x="7315200" y="4526280"/>
            <a:ext cx="42973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1"/>
          <p:cNvSpPr/>
          <p:nvPr/>
        </p:nvSpPr>
        <p:spPr>
          <a:xfrm>
            <a:off x="7315200" y="4526280"/>
            <a:ext cx="4297320" cy="12780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2"/>
          <p:cNvSpPr/>
          <p:nvPr/>
        </p:nvSpPr>
        <p:spPr>
          <a:xfrm>
            <a:off x="7516440" y="4709160"/>
            <a:ext cx="3894840" cy="15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O que o comprador quer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Controle total, documentos profissionais e operação previsível.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3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Visão comercial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solução: SUBSTRATO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31520" y="1234440"/>
            <a:ext cx="10972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O sistema operativo da sua unidade de saúde.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731520" y="251460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Unificamos atendimento, exames, resultados, faturação e controlo em um fluxo único com permissões por função e rastreabilidade.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731520" y="3840480"/>
            <a:ext cx="361152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6"/>
          <p:cNvSpPr/>
          <p:nvPr/>
        </p:nvSpPr>
        <p:spPr>
          <a:xfrm>
            <a:off x="731520" y="3840480"/>
            <a:ext cx="91080" cy="2331360"/>
          </a:xfrm>
          <a:prstGeom prst="rect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914400" y="4005000"/>
            <a:ext cx="33555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Velocidade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Menos filas, menos retrabalho.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Fluxos claros do início ao fim.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8"/>
          <p:cNvSpPr/>
          <p:nvPr/>
        </p:nvSpPr>
        <p:spPr>
          <a:xfrm>
            <a:off x="4480560" y="3840480"/>
            <a:ext cx="361152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9"/>
          <p:cNvSpPr/>
          <p:nvPr/>
        </p:nvSpPr>
        <p:spPr>
          <a:xfrm>
            <a:off x="4480560" y="3840480"/>
            <a:ext cx="91080" cy="23313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4663440" y="4005000"/>
            <a:ext cx="33555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Controlo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Auditoria real e documentos padronizados.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Sem furos na faturação.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1"/>
          <p:cNvSpPr/>
          <p:nvPr/>
        </p:nvSpPr>
        <p:spPr>
          <a:xfrm>
            <a:off x="8229600" y="3840480"/>
            <a:ext cx="352008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8229600" y="3840480"/>
            <a:ext cx="91080" cy="233136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8412480" y="4005000"/>
            <a:ext cx="32641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Escala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Multi‑clínica (multi‑tenant) e pronto para cloud/on‑prem.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Cresce sem recomeçar.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4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Unificação operacional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EF0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Módulos prontos, integrados e por sector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3"/>
          <p:cNvSpPr/>
          <p:nvPr/>
        </p:nvSpPr>
        <p:spPr>
          <a:xfrm>
            <a:off x="502920" y="114300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4"/>
          <p:cNvSpPr/>
          <p:nvPr/>
        </p:nvSpPr>
        <p:spPr>
          <a:xfrm>
            <a:off x="502920" y="1143000"/>
            <a:ext cx="91080" cy="1508400"/>
          </a:xfrm>
          <a:prstGeom prst="rect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685800" y="130752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Recepção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Check‑in, pacientes, requisições, faturas e recibos.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6"/>
          <p:cNvSpPr/>
          <p:nvPr/>
        </p:nvSpPr>
        <p:spPr>
          <a:xfrm>
            <a:off x="4343400" y="114300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7"/>
          <p:cNvSpPr/>
          <p:nvPr/>
        </p:nvSpPr>
        <p:spPr>
          <a:xfrm>
            <a:off x="4343400" y="1143000"/>
            <a:ext cx="91080" cy="15084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4526280" y="130752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Laboratório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Lançar, gravar e validar resultados com rastreio.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9"/>
          <p:cNvSpPr/>
          <p:nvPr/>
        </p:nvSpPr>
        <p:spPr>
          <a:xfrm>
            <a:off x="8183880" y="114300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10"/>
          <p:cNvSpPr/>
          <p:nvPr/>
        </p:nvSpPr>
        <p:spPr>
          <a:xfrm>
            <a:off x="8183880" y="1143000"/>
            <a:ext cx="91080" cy="150840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8366760" y="130752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Medicina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Consultas, requisições médicas e prontuário (Cardex).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2"/>
          <p:cNvSpPr/>
          <p:nvPr/>
        </p:nvSpPr>
        <p:spPr>
          <a:xfrm>
            <a:off x="502920" y="288036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3"/>
          <p:cNvSpPr/>
          <p:nvPr/>
        </p:nvSpPr>
        <p:spPr>
          <a:xfrm>
            <a:off x="502920" y="2880360"/>
            <a:ext cx="91080" cy="1508400"/>
          </a:xfrm>
          <a:prstGeom prst="rect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685800" y="304488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Enfermagem/Enfermaria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Sinais vitais, procedimentos, camas e internamentos.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5"/>
          <p:cNvSpPr/>
          <p:nvPr/>
        </p:nvSpPr>
        <p:spPr>
          <a:xfrm>
            <a:off x="4343400" y="288036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6"/>
          <p:cNvSpPr/>
          <p:nvPr/>
        </p:nvSpPr>
        <p:spPr>
          <a:xfrm>
            <a:off x="4343400" y="2880360"/>
            <a:ext cx="91080" cy="15084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7"/>
          <p:cNvSpPr/>
          <p:nvPr/>
        </p:nvSpPr>
        <p:spPr>
          <a:xfrm>
            <a:off x="4526280" y="304488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Farmácia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Produtos, lotes, estoque (FEFO) e vendas.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8"/>
          <p:cNvSpPr/>
          <p:nvPr/>
        </p:nvSpPr>
        <p:spPr>
          <a:xfrm>
            <a:off x="8183880" y="288036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19"/>
          <p:cNvSpPr/>
          <p:nvPr/>
        </p:nvSpPr>
        <p:spPr>
          <a:xfrm>
            <a:off x="8183880" y="2880360"/>
            <a:ext cx="91080" cy="150840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0"/>
          <p:cNvSpPr/>
          <p:nvPr/>
        </p:nvSpPr>
        <p:spPr>
          <a:xfrm>
            <a:off x="8366760" y="304488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Faturamento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Faturas multi‑origem, itens e IVA por item.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21"/>
          <p:cNvSpPr/>
          <p:nvPr/>
        </p:nvSpPr>
        <p:spPr>
          <a:xfrm>
            <a:off x="502920" y="461772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22"/>
          <p:cNvSpPr/>
          <p:nvPr/>
        </p:nvSpPr>
        <p:spPr>
          <a:xfrm>
            <a:off x="502920" y="4617720"/>
            <a:ext cx="91080" cy="1508400"/>
          </a:xfrm>
          <a:prstGeom prst="rect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3"/>
          <p:cNvSpPr/>
          <p:nvPr/>
        </p:nvSpPr>
        <p:spPr>
          <a:xfrm>
            <a:off x="685800" y="478224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Pagamentos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Pagamentos, conciliação e recibo automático ao liquidar.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24"/>
          <p:cNvSpPr/>
          <p:nvPr/>
        </p:nvSpPr>
        <p:spPr>
          <a:xfrm>
            <a:off x="4343400" y="461772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25"/>
          <p:cNvSpPr/>
          <p:nvPr/>
        </p:nvSpPr>
        <p:spPr>
          <a:xfrm>
            <a:off x="4343400" y="4617720"/>
            <a:ext cx="91080" cy="15084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6"/>
          <p:cNvSpPr/>
          <p:nvPr/>
        </p:nvSpPr>
        <p:spPr>
          <a:xfrm>
            <a:off x="4526280" y="478224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Contabilidade + RH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Contas, lançamentos, funcionários e escalas.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27"/>
          <p:cNvSpPr/>
          <p:nvPr/>
        </p:nvSpPr>
        <p:spPr>
          <a:xfrm>
            <a:off x="8183880" y="4617720"/>
            <a:ext cx="365724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28"/>
          <p:cNvSpPr/>
          <p:nvPr/>
        </p:nvSpPr>
        <p:spPr>
          <a:xfrm>
            <a:off x="8183880" y="4617720"/>
            <a:ext cx="91080" cy="150840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9"/>
          <p:cNvSpPr/>
          <p:nvPr/>
        </p:nvSpPr>
        <p:spPr>
          <a:xfrm>
            <a:off x="8366760" y="4782240"/>
            <a:ext cx="3401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Monitoramento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Logs, auditoria e métricas para operação previsível.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30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Módulos integrados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Fluxo ponta‑a‑ponta: sem buracos na operação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3"/>
          <p:cNvSpPr/>
          <p:nvPr/>
        </p:nvSpPr>
        <p:spPr>
          <a:xfrm>
            <a:off x="751320" y="182880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Oval 4"/>
          <p:cNvSpPr/>
          <p:nvPr/>
        </p:nvSpPr>
        <p:spPr>
          <a:xfrm>
            <a:off x="842760" y="1920240"/>
            <a:ext cx="292320" cy="292320"/>
          </a:xfrm>
          <a:prstGeom prst="ellipse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860760" y="2267640"/>
            <a:ext cx="11973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Check‑in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Recepção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ight Triangle 6"/>
          <p:cNvSpPr/>
          <p:nvPr/>
        </p:nvSpPr>
        <p:spPr>
          <a:xfrm>
            <a:off x="2186640" y="2208240"/>
            <a:ext cx="91080" cy="292320"/>
          </a:xfrm>
          <a:prstGeom prst="rtTriangle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ounded Rectangle 7"/>
          <p:cNvSpPr/>
          <p:nvPr/>
        </p:nvSpPr>
        <p:spPr>
          <a:xfrm>
            <a:off x="2296440" y="182880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Oval 8"/>
          <p:cNvSpPr/>
          <p:nvPr/>
        </p:nvSpPr>
        <p:spPr>
          <a:xfrm>
            <a:off x="2387880" y="1920240"/>
            <a:ext cx="292320" cy="292320"/>
          </a:xfrm>
          <a:prstGeom prst="ellipse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2406240" y="2267640"/>
            <a:ext cx="11973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Requisição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Exames/Consulta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ight Triangle 10"/>
          <p:cNvSpPr/>
          <p:nvPr/>
        </p:nvSpPr>
        <p:spPr>
          <a:xfrm>
            <a:off x="3732120" y="2208240"/>
            <a:ext cx="91080" cy="292320"/>
          </a:xfrm>
          <a:prstGeom prst="rtTriangle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ounded Rectangle 11"/>
          <p:cNvSpPr/>
          <p:nvPr/>
        </p:nvSpPr>
        <p:spPr>
          <a:xfrm>
            <a:off x="3841920" y="182880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Oval 12"/>
          <p:cNvSpPr/>
          <p:nvPr/>
        </p:nvSpPr>
        <p:spPr>
          <a:xfrm>
            <a:off x="3933360" y="1920240"/>
            <a:ext cx="292320" cy="292320"/>
          </a:xfrm>
          <a:prstGeom prst="ellipse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3951720" y="2267640"/>
            <a:ext cx="11973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Execução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Lab/Enfermagem/Farmácia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ight Triangle 14"/>
          <p:cNvSpPr/>
          <p:nvPr/>
        </p:nvSpPr>
        <p:spPr>
          <a:xfrm>
            <a:off x="5277600" y="2208240"/>
            <a:ext cx="91080" cy="292320"/>
          </a:xfrm>
          <a:prstGeom prst="rtTriangle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ounded Rectangle 15"/>
          <p:cNvSpPr/>
          <p:nvPr/>
        </p:nvSpPr>
        <p:spPr>
          <a:xfrm>
            <a:off x="5387040" y="182880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Oval 16"/>
          <p:cNvSpPr/>
          <p:nvPr/>
        </p:nvSpPr>
        <p:spPr>
          <a:xfrm>
            <a:off x="5478480" y="1920240"/>
            <a:ext cx="292320" cy="292320"/>
          </a:xfrm>
          <a:prstGeom prst="ellipse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7"/>
          <p:cNvSpPr/>
          <p:nvPr/>
        </p:nvSpPr>
        <p:spPr>
          <a:xfrm>
            <a:off x="5496840" y="2267640"/>
            <a:ext cx="11973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Resultado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Lançar → Gravar → Validar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ight Triangle 18"/>
          <p:cNvSpPr/>
          <p:nvPr/>
        </p:nvSpPr>
        <p:spPr>
          <a:xfrm>
            <a:off x="6822720" y="2208240"/>
            <a:ext cx="91080" cy="292320"/>
          </a:xfrm>
          <a:prstGeom prst="rtTriangle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19"/>
          <p:cNvSpPr/>
          <p:nvPr/>
        </p:nvSpPr>
        <p:spPr>
          <a:xfrm>
            <a:off x="6932520" y="182880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Oval 20"/>
          <p:cNvSpPr/>
          <p:nvPr/>
        </p:nvSpPr>
        <p:spPr>
          <a:xfrm>
            <a:off x="7023960" y="1920240"/>
            <a:ext cx="292320" cy="292320"/>
          </a:xfrm>
          <a:prstGeom prst="ellipse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1"/>
          <p:cNvSpPr/>
          <p:nvPr/>
        </p:nvSpPr>
        <p:spPr>
          <a:xfrm>
            <a:off x="7042320" y="2267640"/>
            <a:ext cx="11973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Fatura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Itens + IVA por item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ight Triangle 22"/>
          <p:cNvSpPr/>
          <p:nvPr/>
        </p:nvSpPr>
        <p:spPr>
          <a:xfrm>
            <a:off x="8368200" y="2208240"/>
            <a:ext cx="91080" cy="292320"/>
          </a:xfrm>
          <a:prstGeom prst="rtTriangle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ounded Rectangle 23"/>
          <p:cNvSpPr/>
          <p:nvPr/>
        </p:nvSpPr>
        <p:spPr>
          <a:xfrm>
            <a:off x="8478000" y="182880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Oval 24"/>
          <p:cNvSpPr/>
          <p:nvPr/>
        </p:nvSpPr>
        <p:spPr>
          <a:xfrm>
            <a:off x="8569440" y="1920240"/>
            <a:ext cx="292320" cy="292320"/>
          </a:xfrm>
          <a:prstGeom prst="ellipse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5"/>
          <p:cNvSpPr/>
          <p:nvPr/>
        </p:nvSpPr>
        <p:spPr>
          <a:xfrm>
            <a:off x="8587440" y="2267640"/>
            <a:ext cx="11973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Pagamento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Total/Parcial + reconciliação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ight Triangle 26"/>
          <p:cNvSpPr/>
          <p:nvPr/>
        </p:nvSpPr>
        <p:spPr>
          <a:xfrm>
            <a:off x="9913320" y="2208240"/>
            <a:ext cx="91080" cy="292320"/>
          </a:xfrm>
          <a:prstGeom prst="rtTriangle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27"/>
          <p:cNvSpPr/>
          <p:nvPr/>
        </p:nvSpPr>
        <p:spPr>
          <a:xfrm>
            <a:off x="10023120" y="182880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Oval 28"/>
          <p:cNvSpPr/>
          <p:nvPr/>
        </p:nvSpPr>
        <p:spPr>
          <a:xfrm>
            <a:off x="10114560" y="1920240"/>
            <a:ext cx="292320" cy="292320"/>
          </a:xfrm>
          <a:prstGeom prst="ellipse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9"/>
          <p:cNvSpPr/>
          <p:nvPr/>
        </p:nvSpPr>
        <p:spPr>
          <a:xfrm>
            <a:off x="10132920" y="2267640"/>
            <a:ext cx="11973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Recibo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PDF com QR/Barcode + histórico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0"/>
          <p:cNvSpPr/>
          <p:nvPr/>
        </p:nvSpPr>
        <p:spPr>
          <a:xfrm>
            <a:off x="640080" y="3657600"/>
            <a:ext cx="109724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Tudo registado e auditável: quem fez, quando fez, e o estado de cada etapa.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1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Fluxo integrado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EF0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Documentos profissionais (PDF) + rastreio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640080" y="1234440"/>
            <a:ext cx="54860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54720" rIns="90000" bIns="54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O que o seu cliente vê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Faturas, recibos, requisições e resultados com layout institucional.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QR Code + Código de barras (Code128) para rastreio rápido.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Pronto para impressão e arquivamento: claro, compacto e legível.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Menos erro humano. Mais confiança no atendimento.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Picture 4" descr="fatura_exemplo_preview.png"/>
          <p:cNvPicPr/>
          <p:nvPr/>
        </p:nvPicPr>
        <p:blipFill>
          <a:blip r:embed="rId1"/>
          <a:stretch/>
        </p:blipFill>
        <p:spPr>
          <a:xfrm>
            <a:off x="6400800" y="1143000"/>
            <a:ext cx="5120280" cy="548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5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PDFs e rastreabilidade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Segurança, permissões e auditoria real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731520" y="1234440"/>
            <a:ext cx="109724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54720" rIns="90000" bIns="54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Em saúde, controlo não é luxo. É requisito.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RBAC por sector: Recepção, Laboratório, Enfermagem, Farmácia, Contabilidade, RH, Medicina.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Admin apenas para Administrador (controle total de acesso).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Autenticação JWT (acesso/refresh) e isolamento por inquilino (multi‑tenant).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Auditoria de atividades e captura de erros para rastreabilidade operacional.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Backups automatizados + health checks (live/ready) + métricas (Prometheus).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4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Segurança e auditoria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EF0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Integrações e automação (pronto para crescer)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640080" y="1234440"/>
            <a:ext cx="1152108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54720" rIns="90000" bIns="54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Conectividade que vende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Integração com equipamentos: worklist e inbox de resultados (HTTP JSON, chave por equipamento).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Notificações com templates e logs (e‑mail/WhatsApp/SMS) com idempotência por referência.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API documentada (OpenAPI) para parceiros, ERPs e integrações futuras.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Processamento assíncrono com Celery: tarefas pesadas sem travar o atendimento.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Integrações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Dashboards e relatórios para gestão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640080" y="1234440"/>
            <a:ext cx="576036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54720" rIns="90000" bIns="54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Decisão com dados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KPIs por sector: atendimento, TAT de resultados, faturação, pagamentos, estoque.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Tabelas filtráveis e indicadores consistentes.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Exportação: PDF | CSV | Word.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4"/>
          <p:cNvSpPr/>
          <p:nvPr/>
        </p:nvSpPr>
        <p:spPr>
          <a:xfrm>
            <a:off x="6766560" y="1965960"/>
            <a:ext cx="4937400" cy="4114440"/>
          </a:xfrm>
          <a:prstGeom prst="roundRect">
            <a:avLst>
              <a:gd name="adj" fmla="val 16667"/>
            </a:avLst>
          </a:prstGeom>
          <a:solidFill>
            <a:srgbClr val="EEF0F2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7269480" y="3977640"/>
            <a:ext cx="776880" cy="1508400"/>
          </a:xfrm>
          <a:prstGeom prst="rect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7178040" y="5532120"/>
            <a:ext cx="959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Atendimentos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7"/>
          <p:cNvSpPr/>
          <p:nvPr/>
        </p:nvSpPr>
        <p:spPr>
          <a:xfrm>
            <a:off x="8366760" y="3429000"/>
            <a:ext cx="776880" cy="20570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8275320" y="5532120"/>
            <a:ext cx="959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Resultados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9"/>
          <p:cNvSpPr/>
          <p:nvPr/>
        </p:nvSpPr>
        <p:spPr>
          <a:xfrm>
            <a:off x="9464040" y="3785760"/>
            <a:ext cx="776880" cy="1700280"/>
          </a:xfrm>
          <a:prstGeom prst="rect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9372600" y="5532120"/>
            <a:ext cx="959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Faturação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10561320" y="3072240"/>
            <a:ext cx="776880" cy="2413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2"/>
          <p:cNvSpPr/>
          <p:nvPr/>
        </p:nvSpPr>
        <p:spPr>
          <a:xfrm>
            <a:off x="10469880" y="5532120"/>
            <a:ext cx="959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Pagamentos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3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Estatísticas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EEF0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Implementação rápida, operação estável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3"/>
          <p:cNvSpPr/>
          <p:nvPr/>
        </p:nvSpPr>
        <p:spPr>
          <a:xfrm>
            <a:off x="640080" y="1234440"/>
            <a:ext cx="576036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54720" rIns="90000" bIns="54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Pronto para produção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On‑premise ou cloud.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Docker Compose para arranque rápido; Kubernetes para escala.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Postgres + Redis + Celery: robustez de nível empresarial.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700" b="0" u="none" strike="noStrike">
                <a:solidFill>
                  <a:srgbClr val="1F1F1F"/>
                </a:solidFill>
                <a:effectLst/>
                <a:uFillTx/>
                <a:latin typeface="Calibri"/>
              </a:rPr>
              <a:t>Arquitetura modular (Django/DRF + Next.js): fácil de manter e evoluir.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4"/>
          <p:cNvSpPr/>
          <p:nvPr/>
        </p:nvSpPr>
        <p:spPr>
          <a:xfrm>
            <a:off x="6766560" y="1554480"/>
            <a:ext cx="493740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ounded Rectangle 5"/>
          <p:cNvSpPr/>
          <p:nvPr/>
        </p:nvSpPr>
        <p:spPr>
          <a:xfrm>
            <a:off x="7269480" y="2148840"/>
            <a:ext cx="1554120" cy="68544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(Next.js)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6"/>
          <p:cNvSpPr/>
          <p:nvPr/>
        </p:nvSpPr>
        <p:spPr>
          <a:xfrm>
            <a:off x="9144000" y="2148840"/>
            <a:ext cx="1554120" cy="685440"/>
          </a:xfrm>
          <a:prstGeom prst="roundRect">
            <a:avLst>
              <a:gd name="adj" fmla="val 16667"/>
            </a:avLst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API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(Django/DRF)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7"/>
          <p:cNvSpPr/>
          <p:nvPr/>
        </p:nvSpPr>
        <p:spPr>
          <a:xfrm>
            <a:off x="7452360" y="3383280"/>
            <a:ext cx="1554120" cy="685440"/>
          </a:xfrm>
          <a:prstGeom prst="roundRect">
            <a:avLst>
              <a:gd name="adj" fmla="val 16667"/>
            </a:avLst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Postgres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8"/>
          <p:cNvSpPr/>
          <p:nvPr/>
        </p:nvSpPr>
        <p:spPr>
          <a:xfrm>
            <a:off x="9326880" y="3383280"/>
            <a:ext cx="1554120" cy="68544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Redis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9"/>
          <p:cNvSpPr/>
          <p:nvPr/>
        </p:nvSpPr>
        <p:spPr>
          <a:xfrm>
            <a:off x="8366760" y="4206240"/>
            <a:ext cx="1828440" cy="685440"/>
          </a:xfrm>
          <a:prstGeom prst="roundRect">
            <a:avLst>
              <a:gd name="adj" fmla="val 16667"/>
            </a:avLst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Celery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(Tarefas)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0"/>
          <p:cNvSpPr/>
          <p:nvPr/>
        </p:nvSpPr>
        <p:spPr>
          <a:xfrm>
            <a:off x="7452360" y="5074920"/>
            <a:ext cx="3428640" cy="685440"/>
          </a:xfrm>
          <a:prstGeom prst="roundRect">
            <a:avLst>
              <a:gd name="adj" fmla="val 16667"/>
            </a:avLst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Integrações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(E-mail/WhatsApp/Equipamentos)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1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Deploy e escala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2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tIns="109800" rIns="27432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Resultado prático: mais controlo, mais receita, menos caos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3"/>
          <p:cNvSpPr/>
          <p:nvPr/>
        </p:nvSpPr>
        <p:spPr>
          <a:xfrm>
            <a:off x="731520" y="1417320"/>
            <a:ext cx="3748680" cy="5120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4"/>
          <p:cNvSpPr/>
          <p:nvPr/>
        </p:nvSpPr>
        <p:spPr>
          <a:xfrm>
            <a:off x="731520" y="1417320"/>
            <a:ext cx="91080" cy="512028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5"/>
          <p:cNvSpPr/>
          <p:nvPr/>
        </p:nvSpPr>
        <p:spPr>
          <a:xfrm>
            <a:off x="914400" y="1581840"/>
            <a:ext cx="3492720" cy="48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Velocidade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Menos filas.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Menos retrabalho.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Atendimento previsível.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Resultados com fluxo claro.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6"/>
          <p:cNvSpPr/>
          <p:nvPr/>
        </p:nvSpPr>
        <p:spPr>
          <a:xfrm>
            <a:off x="4526280" y="1417320"/>
            <a:ext cx="3748680" cy="5120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7"/>
          <p:cNvSpPr/>
          <p:nvPr/>
        </p:nvSpPr>
        <p:spPr>
          <a:xfrm>
            <a:off x="4526280" y="1417320"/>
            <a:ext cx="91080" cy="5120280"/>
          </a:xfrm>
          <a:prstGeom prst="rect">
            <a:avLst/>
          </a:prstGeom>
          <a:solidFill>
            <a:srgbClr val="A823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8"/>
          <p:cNvSpPr/>
          <p:nvPr/>
        </p:nvSpPr>
        <p:spPr>
          <a:xfrm>
            <a:off x="4709160" y="1581840"/>
            <a:ext cx="3492720" cy="48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Receita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Itens certos na fatura.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IVA por item.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Pagamentos reconciliados.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Recibo automático ao liquidar.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9"/>
          <p:cNvSpPr/>
          <p:nvPr/>
        </p:nvSpPr>
        <p:spPr>
          <a:xfrm>
            <a:off x="8321040" y="1417320"/>
            <a:ext cx="3611520" cy="5120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9D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ectangle 10"/>
          <p:cNvSpPr/>
          <p:nvPr/>
        </p:nvSpPr>
        <p:spPr>
          <a:xfrm>
            <a:off x="8321040" y="1417320"/>
            <a:ext cx="91080" cy="512028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1"/>
          <p:cNvSpPr/>
          <p:nvPr/>
        </p:nvSpPr>
        <p:spPr>
          <a:xfrm>
            <a:off x="8503920" y="1581840"/>
            <a:ext cx="3355560" cy="48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7A1B1B"/>
                </a:solidFill>
                <a:effectLst/>
                <a:uFillTx/>
                <a:latin typeface="Calibri"/>
              </a:rPr>
              <a:t>Confiança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Auditoria real.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Documentos profissionais.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Rastreio por QR/Barcode.</a:t>
            </a:r>
            <a:br>
              <a:rPr sz="1300"/>
            </a:b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Gestão por indicadores.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2"/>
          <p:cNvSpPr/>
          <p:nvPr/>
        </p:nvSpPr>
        <p:spPr>
          <a:xfrm>
            <a:off x="411480" y="6446520"/>
            <a:ext cx="1136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SUBSTRATO • Proposta de valor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7A1B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777240" y="10058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Próximo passo: demonstração e plano de implementação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3"/>
          <p:cNvSpPr/>
          <p:nvPr/>
        </p:nvSpPr>
        <p:spPr>
          <a:xfrm>
            <a:off x="777240" y="2148840"/>
            <a:ext cx="10789560" cy="27428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1143000" y="2423160"/>
            <a:ext cx="10058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1) Demo (60 min) com o seu fluxo real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800" b="0" u="none" strike="noStrike">
                <a:solidFill>
                  <a:srgbClr val="E5E7EB"/>
                </a:solidFill>
                <a:effectLst/>
                <a:uFillTx/>
                <a:latin typeface="Calibri"/>
              </a:rPr>
              <a:t>2) Piloto (7–14 dias) com dados reais e validação de processos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800" b="0" u="none" strike="noStrike">
                <a:solidFill>
                  <a:srgbClr val="E5E7EB"/>
                </a:solidFill>
                <a:effectLst/>
                <a:uFillTx/>
                <a:latin typeface="Calibri"/>
              </a:rPr>
              <a:t>3) Go‑live + treinamento + suporte contínuo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777240" y="580644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EE2E2"/>
                </a:solidFill>
                <a:effectLst/>
                <a:uFillTx/>
                <a:latin typeface="Calibri"/>
              </a:rPr>
              <a:t>Contacto: substratosys@gmail.com | WhatsApp: +258 84 777 8476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LibreOffice/26.2.1.2$Linux_X86_64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2026-03-15T21:14:08Z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